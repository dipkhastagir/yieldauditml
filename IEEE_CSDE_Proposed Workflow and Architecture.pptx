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8229600" cy="3429000"/>
  <p:notesSz cx="3429000" cy="8229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1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84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of the paper: proposed leakage-audited workflow. Export this slide as PNG (File &gt; Export) and save it as fig_workflow.png.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of the paper: out-of-fold stacking architecture. Export this slide as PNG and save it as fig_architecture.png.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1-head"/>
          <p:cNvSpPr txBox="1"/>
          <p:nvPr/>
        </p:nvSpPr>
        <p:spPr>
          <a:xfrm>
            <a:off x="182880" y="280704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1.  Data</a:t>
            </a:r>
            <a:endParaRPr lang="en-US" sz="1600" dirty="0"/>
          </a:p>
        </p:txBody>
      </p:sp>
      <p:sp>
        <p:nvSpPr>
          <p:cNvPr id="3" name="stage1-body"/>
          <p:cNvSpPr txBox="1"/>
          <p:nvPr/>
        </p:nvSpPr>
        <p:spPr>
          <a:xfrm>
            <a:off x="182880" y="838488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EAF3E2"/>
          </a:solidFill>
          <a:ln w="15875">
            <a:solidFill>
              <a:srgbClr val="97BC6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19,689 rows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55 crops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30 states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1997 to 2020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536192" y="1935768"/>
            <a:ext cx="21945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tage2-head"/>
          <p:cNvSpPr txBox="1"/>
          <p:nvPr/>
        </p:nvSpPr>
        <p:spPr>
          <a:xfrm>
            <a:off x="1783080" y="280704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2.  Audits</a:t>
            </a:r>
            <a:endParaRPr lang="en-US" sz="1600" dirty="0"/>
          </a:p>
        </p:txBody>
      </p:sp>
      <p:sp>
        <p:nvSpPr>
          <p:cNvPr id="6" name="stage2-body"/>
          <p:cNvSpPr txBox="1"/>
          <p:nvPr/>
        </p:nvSpPr>
        <p:spPr>
          <a:xfrm>
            <a:off x="1783080" y="838488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EAF3E2"/>
          </a:solidFill>
          <a:ln w="15875">
            <a:solidFill>
              <a:srgbClr val="97BC6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Data quality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Leakage (13)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No production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Permutation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36392" y="1935768"/>
            <a:ext cx="21945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tage3-head"/>
          <p:cNvSpPr txBox="1"/>
          <p:nvPr/>
        </p:nvSpPr>
        <p:spPr>
          <a:xfrm>
            <a:off x="3383280" y="280704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3.  Features</a:t>
            </a:r>
            <a:endParaRPr lang="en-US" sz="1600" dirty="0"/>
          </a:p>
        </p:txBody>
      </p:sp>
      <p:sp>
        <p:nvSpPr>
          <p:cNvPr id="9" name="stage3-body"/>
          <p:cNvSpPr txBox="1"/>
          <p:nvPr/>
        </p:nvSpPr>
        <p:spPr>
          <a:xfrm>
            <a:off x="3383280" y="838488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EAF3E2"/>
          </a:solidFill>
          <a:ln w="15875">
            <a:solidFill>
              <a:srgbClr val="97BC6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log1p target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Per-ha rates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Lag, mean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Past only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36592" y="1935768"/>
            <a:ext cx="21945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age4-head"/>
          <p:cNvSpPr txBox="1"/>
          <p:nvPr/>
        </p:nvSpPr>
        <p:spPr>
          <a:xfrm>
            <a:off x="4983480" y="280704"/>
            <a:ext cx="1325880" cy="502920"/>
          </a:xfrm>
          <a:prstGeom prst="roundRect">
            <a:avLst>
              <a:gd name="adj" fmla="val 14545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4.  Models</a:t>
            </a:r>
            <a:endParaRPr lang="en-US" sz="1600" dirty="0"/>
          </a:p>
        </p:txBody>
      </p:sp>
      <p:sp>
        <p:nvSpPr>
          <p:cNvPr id="12" name="stage4-body"/>
          <p:cNvSpPr txBox="1"/>
          <p:nvPr/>
        </p:nvSpPr>
        <p:spPr>
          <a:xfrm>
            <a:off x="4983480" y="838488"/>
            <a:ext cx="1325880" cy="2194560"/>
          </a:xfrm>
          <a:prstGeom prst="roundRect">
            <a:avLst>
              <a:gd name="adj" fmla="val 5517"/>
            </a:avLst>
          </a:prstGeom>
          <a:solidFill>
            <a:srgbClr val="EAF3E2"/>
          </a:solidFill>
          <a:ln w="15875">
            <a:solidFill>
              <a:srgbClr val="97BC6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12 models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Optuna TPE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Stacking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Train to 2015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36792" y="1935768"/>
            <a:ext cx="137160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473952" y="500160"/>
            <a:ext cx="0" cy="219456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utput-1"/>
          <p:cNvSpPr txBox="1"/>
          <p:nvPr/>
        </p:nvSpPr>
        <p:spPr>
          <a:xfrm>
            <a:off x="6675120" y="28070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Split regimes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73952" y="500160"/>
            <a:ext cx="17373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output-2"/>
          <p:cNvSpPr txBox="1"/>
          <p:nvPr/>
        </p:nvSpPr>
        <p:spPr>
          <a:xfrm>
            <a:off x="6675120" y="82934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Significance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73952" y="1048800"/>
            <a:ext cx="17373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output-3"/>
          <p:cNvSpPr txBox="1"/>
          <p:nvPr/>
        </p:nvSpPr>
        <p:spPr>
          <a:xfrm>
            <a:off x="6675120" y="137798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Conformal PI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73952" y="1597440"/>
            <a:ext cx="17373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output-4"/>
          <p:cNvSpPr txBox="1"/>
          <p:nvPr/>
        </p:nvSpPr>
        <p:spPr>
          <a:xfrm>
            <a:off x="6675120" y="192662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SHAP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73952" y="2146080"/>
            <a:ext cx="17373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output-5"/>
          <p:cNvSpPr txBox="1"/>
          <p:nvPr/>
        </p:nvSpPr>
        <p:spPr>
          <a:xfrm>
            <a:off x="6675120" y="2475264"/>
            <a:ext cx="1371600" cy="438912"/>
          </a:xfrm>
          <a:prstGeom prst="roundRect">
            <a:avLst>
              <a:gd name="adj" fmla="val 16667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Transfer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3952" y="2694720"/>
            <a:ext cx="17373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675120" y="304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B5651D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5.  Evaluation</a:t>
            </a:r>
            <a:endParaRPr lang="en-US" dirty="0"/>
          </a:p>
        </p:txBody>
      </p:sp>
      <p:sp>
        <p:nvSpPr>
          <p:cNvPr id="26" name="Text 24"/>
          <p:cNvSpPr txBox="1"/>
          <p:nvPr/>
        </p:nvSpPr>
        <p:spPr>
          <a:xfrm>
            <a:off x="182880" y="304219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5B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Leakage-safe pipeline: every stage uses training years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82880" y="73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5F2D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Training path (years up to 2015)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182880" y="3108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5651D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Inference path (test years 2016 to 2020)</a:t>
            </a:r>
            <a:endParaRPr lang="en-US" sz="1400" dirty="0"/>
          </a:p>
        </p:txBody>
      </p:sp>
      <p:sp>
        <p:nvSpPr>
          <p:cNvPr id="4" name="train-data"/>
          <p:cNvSpPr txBox="1"/>
          <p:nvPr/>
        </p:nvSpPr>
        <p:spPr>
          <a:xfrm>
            <a:off x="182880" y="4114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3E2"/>
          </a:solidFill>
          <a:ln w="15875">
            <a:solidFill>
              <a:srgbClr val="97BC6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Training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11 inputs</a:t>
            </a:r>
            <a:endParaRPr lang="en-US" sz="1600" dirty="0"/>
          </a:p>
        </p:txBody>
      </p:sp>
      <p:sp>
        <p:nvSpPr>
          <p:cNvPr id="5" name="groupkfold"/>
          <p:cNvSpPr txBox="1"/>
          <p:nvPr/>
        </p:nvSpPr>
        <p:spPr>
          <a:xfrm>
            <a:off x="1783080" y="4114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3E2"/>
          </a:solidFill>
          <a:ln w="15875">
            <a:solidFill>
              <a:srgbClr val="97BC6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GroupKFold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5 folds by series</a:t>
            </a:r>
            <a:endParaRPr lang="en-US" sz="1600" dirty="0"/>
          </a:p>
        </p:txBody>
      </p:sp>
      <p:sp>
        <p:nvSpPr>
          <p:cNvPr id="6" name="test-data"/>
          <p:cNvSpPr txBox="1"/>
          <p:nvPr/>
        </p:nvSpPr>
        <p:spPr>
          <a:xfrm>
            <a:off x="182880" y="21488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Test data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2016 to 2020</a:t>
            </a:r>
            <a:endParaRPr lang="en-US" sz="1600" dirty="0"/>
          </a:p>
        </p:txBody>
      </p:sp>
      <p:sp>
        <p:nvSpPr>
          <p:cNvPr id="7" name="refit"/>
          <p:cNvSpPr txBox="1"/>
          <p:nvPr/>
        </p:nvSpPr>
        <p:spPr>
          <a:xfrm>
            <a:off x="1783080" y="21488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Refit on all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training years</a:t>
            </a:r>
            <a:endParaRPr lang="en-US" sz="1600" dirty="0"/>
          </a:p>
        </p:txBody>
      </p:sp>
      <p:sp>
        <p:nvSpPr>
          <p:cNvPr id="8" name="learner-group"/>
          <p:cNvSpPr/>
          <p:nvPr/>
        </p:nvSpPr>
        <p:spPr>
          <a:xfrm>
            <a:off x="3355848" y="365760"/>
            <a:ext cx="1563624" cy="2697480"/>
          </a:xfrm>
          <a:prstGeom prst="roundRect">
            <a:avLst>
              <a:gd name="adj" fmla="val 5848"/>
            </a:avLst>
          </a:prstGeom>
          <a:solidFill>
            <a:srgbClr val="F6FAF2"/>
          </a:solidFill>
          <a:ln w="15875">
            <a:solidFill>
              <a:srgbClr val="4E8A3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55848" y="420624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C5F2D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Base learners</a:t>
            </a:r>
            <a:endParaRPr lang="en-US" sz="1400" dirty="0"/>
          </a:p>
        </p:txBody>
      </p:sp>
      <p:sp>
        <p:nvSpPr>
          <p:cNvPr id="10" name="learner-1"/>
          <p:cNvSpPr txBox="1"/>
          <p:nvPr/>
        </p:nvSpPr>
        <p:spPr>
          <a:xfrm>
            <a:off x="3429000" y="822960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LightGBM</a:t>
            </a:r>
            <a:endParaRPr lang="en-US" sz="1600" dirty="0"/>
          </a:p>
        </p:txBody>
      </p:sp>
      <p:sp>
        <p:nvSpPr>
          <p:cNvPr id="11" name="learner-2"/>
          <p:cNvSpPr txBox="1"/>
          <p:nvPr/>
        </p:nvSpPr>
        <p:spPr>
          <a:xfrm>
            <a:off x="3429000" y="1650492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XGBoost</a:t>
            </a:r>
            <a:endParaRPr lang="en-US" sz="1600" dirty="0"/>
          </a:p>
        </p:txBody>
      </p:sp>
      <p:sp>
        <p:nvSpPr>
          <p:cNvPr id="12" name="learner-3"/>
          <p:cNvSpPr txBox="1"/>
          <p:nvPr/>
        </p:nvSpPr>
        <p:spPr>
          <a:xfrm>
            <a:off x="3429000" y="2478024"/>
            <a:ext cx="1417320" cy="530352"/>
          </a:xfrm>
          <a:prstGeom prst="roundRect">
            <a:avLst>
              <a:gd name="adj" fmla="val 13793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3" name="oof"/>
          <p:cNvSpPr txBox="1"/>
          <p:nvPr/>
        </p:nvSpPr>
        <p:spPr>
          <a:xfrm>
            <a:off x="5074920" y="4114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EAF3E2"/>
          </a:solidFill>
          <a:ln w="15875">
            <a:solidFill>
              <a:srgbClr val="97BC6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Out-of-fold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predictions</a:t>
            </a:r>
            <a:endParaRPr lang="en-US" sz="1600" dirty="0"/>
          </a:p>
        </p:txBody>
      </p:sp>
      <p:sp>
        <p:nvSpPr>
          <p:cNvPr id="14" name="test-preds"/>
          <p:cNvSpPr txBox="1"/>
          <p:nvPr/>
        </p:nvSpPr>
        <p:spPr>
          <a:xfrm>
            <a:off x="5074920" y="21488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BEBD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Test-year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A1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predictions</a:t>
            </a:r>
            <a:endParaRPr lang="en-US" sz="1600" dirty="0"/>
          </a:p>
        </p:txBody>
      </p:sp>
      <p:sp>
        <p:nvSpPr>
          <p:cNvPr id="15" name="ridge"/>
          <p:cNvSpPr txBox="1"/>
          <p:nvPr/>
        </p:nvSpPr>
        <p:spPr>
          <a:xfrm>
            <a:off x="6675120" y="41148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2C5F2D"/>
          </a:solidFill>
          <a:ln w="15875">
            <a:solidFill>
              <a:srgbClr val="2C5F2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RidgeCV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meta-learner</a:t>
            </a:r>
            <a:endParaRPr lang="en-US" sz="1600" dirty="0"/>
          </a:p>
        </p:txBody>
      </p:sp>
      <p:sp>
        <p:nvSpPr>
          <p:cNvPr id="16" name="forecast"/>
          <p:cNvSpPr txBox="1"/>
          <p:nvPr/>
        </p:nvSpPr>
        <p:spPr>
          <a:xfrm>
            <a:off x="6675120" y="214884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B5651D"/>
          </a:solidFill>
          <a:ln w="15875">
            <a:solidFill>
              <a:srgbClr val="B5651D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Yield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forecast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581912" y="845820"/>
            <a:ext cx="17373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82112" y="845820"/>
            <a:ext cx="146304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46904" y="845820"/>
            <a:ext cx="100584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73952" y="845820"/>
            <a:ext cx="173736" cy="0"/>
          </a:xfrm>
          <a:prstGeom prst="line">
            <a:avLst/>
          </a:prstGeom>
          <a:noFill/>
          <a:ln w="22225">
            <a:solidFill>
              <a:srgbClr val="1F2A1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581912" y="2583180"/>
            <a:ext cx="173736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82112" y="2583180"/>
            <a:ext cx="146304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46904" y="2583180"/>
            <a:ext cx="100584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73952" y="2583180"/>
            <a:ext cx="173736" cy="0"/>
          </a:xfrm>
          <a:prstGeom prst="line">
            <a:avLst/>
          </a:prstGeom>
          <a:noFill/>
          <a:ln w="22225">
            <a:solidFill>
              <a:srgbClr val="B5651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60920" y="1307592"/>
            <a:ext cx="0" cy="813816"/>
          </a:xfrm>
          <a:prstGeom prst="line">
            <a:avLst/>
          </a:prstGeom>
          <a:noFill/>
          <a:ln w="22225">
            <a:solidFill>
              <a:srgbClr val="2C5F2D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406640" y="15681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C5F2D"/>
                </a:solidFill>
                <a:latin typeface="Centaur" pitchFamily="34" charset="0"/>
                <a:ea typeface="Centaur" pitchFamily="34" charset="-122"/>
                <a:cs typeface="Centaur" pitchFamily="34" charset="-120"/>
              </a:rPr>
              <a:t>weights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au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au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174</Words>
  <Application>Microsoft Office PowerPoint</Application>
  <PresentationFormat>Custom</PresentationFormat>
  <Paragraphs>54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Centaur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Proposed Workflow and Architecture</dc:title>
  <dc:subject>PptxGenJS Presentation</dc:subject>
  <dc:creator>Dip Khastagir</dc:creator>
  <cp:lastModifiedBy>Dip Khastagir</cp:lastModifiedBy>
  <cp:revision>2</cp:revision>
  <dcterms:created xsi:type="dcterms:W3CDTF">2026-10-10T07:13:27Z</dcterms:created>
  <dcterms:modified xsi:type="dcterms:W3CDTF">2026-10-10T09:17:31Z</dcterms:modified>
</cp:coreProperties>
</file>